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822960" cy="82296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77240" y="21488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MedCare+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1546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&amp; Appointment Management System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3886200"/>
            <a:ext cx="3291840" cy="502920"/>
          </a:xfrm>
          <a:prstGeom prst="rect">
            <a:avLst>
              <a:gd name="adj" fmla="val 14545"/>
            </a:avLst>
          </a:prstGeom>
          <a:solidFill>
            <a:srgbClr val="9B59B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8862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Doctor Portal &amp; Medicine Suggestions — v2.0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 ·  Tkinter  ·  SQLite3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MedCare+?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desktop application, backed by a real SQLite database, that connects patients and doctors around medicine records and appointments.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2918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5AD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468880"/>
            <a:ext cx="594360" cy="594360"/>
          </a:xfrm>
          <a:prstGeom prst="ellipse">
            <a:avLst/>
          </a:prstGeom>
          <a:solidFill>
            <a:srgbClr val="00C6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68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Portal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medicines, book appointments, calculate BMI, get automatic reminders.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2148840"/>
            <a:ext cx="32918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5AD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2468880"/>
            <a:ext cx="594360" cy="59436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468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2628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 Portal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26280" y="361188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appointments, search patient history, suggest real medicines by specialization.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863840" y="2148840"/>
            <a:ext cx="32918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5AD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2468880"/>
            <a:ext cx="594360" cy="594360"/>
          </a:xfrm>
          <a:prstGeom prst="ellipse">
            <a:avLst/>
          </a:prstGeom>
          <a:solidFill>
            <a:srgbClr val="1E90FF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2468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13816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Database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138160" y="361188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SQLite file keeps patients, doctors, medicines, and appointments in sync.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MedCare+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Tech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881360" cy="548640"/>
          </a:xfrm>
          <a:prstGeom prst="rect">
            <a:avLst/>
          </a:prstGeom>
          <a:solidFill>
            <a:srgbClr val="102A3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45920"/>
            <a:ext cx="365760" cy="365760"/>
          </a:xfrm>
          <a:prstGeom prst="ellipse">
            <a:avLst/>
          </a:prstGeom>
          <a:solidFill>
            <a:srgbClr val="00C6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5544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10881360" cy="548640"/>
          </a:xfrm>
          <a:prstGeom prst="rect">
            <a:avLst/>
          </a:prstGeom>
          <a:solidFill>
            <a:srgbClr val="0B1E2D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2331720"/>
            <a:ext cx="365760" cy="365760"/>
          </a:xfrm>
          <a:prstGeom prst="ellipse">
            <a:avLst/>
          </a:prstGeom>
          <a:solidFill>
            <a:srgbClr val="00C6F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240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Framework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22402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/ ttk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2926080"/>
            <a:ext cx="10881360" cy="548640"/>
          </a:xfrm>
          <a:prstGeom prst="rect">
            <a:avLst/>
          </a:prstGeom>
          <a:solidFill>
            <a:srgbClr val="102A3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3017520"/>
            <a:ext cx="365760" cy="365760"/>
          </a:xfrm>
          <a:prstGeom prst="ellipse">
            <a:avLst/>
          </a:prstGeom>
          <a:solidFill>
            <a:srgbClr val="00C6F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2926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29260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 — single file (medcare.db)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3611880"/>
            <a:ext cx="10881360" cy="548640"/>
          </a:xfrm>
          <a:prstGeom prst="rect">
            <a:avLst/>
          </a:prstGeom>
          <a:solidFill>
            <a:srgbClr val="0B1E2D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703320"/>
            <a:ext cx="365760" cy="365760"/>
          </a:xfrm>
          <a:prstGeom prst="ellipse">
            <a:avLst/>
          </a:prstGeom>
          <a:solidFill>
            <a:srgbClr val="00C6FF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611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Preview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54880" y="36118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 (PIL) — optional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40080" y="4297680"/>
            <a:ext cx="10881360" cy="548640"/>
          </a:xfrm>
          <a:prstGeom prst="rect">
            <a:avLst/>
          </a:prstGeom>
          <a:solidFill>
            <a:srgbClr val="102A3E"/>
          </a:solidFill>
          <a:ln/>
        </p:spPr>
      </p:sp>
      <p:sp>
        <p:nvSpPr>
          <p:cNvPr id="24" name="Shape 22"/>
          <p:cNvSpPr/>
          <p:nvPr/>
        </p:nvSpPr>
        <p:spPr>
          <a:xfrm>
            <a:off x="822960" y="4389120"/>
            <a:ext cx="365760" cy="365760"/>
          </a:xfrm>
          <a:prstGeom prst="ellipse">
            <a:avLst/>
          </a:prstGeom>
          <a:solidFill>
            <a:srgbClr val="00C6FF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389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71600" y="4297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Reminders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54880" y="42976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REST API — optional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0080" y="4983480"/>
            <a:ext cx="10881360" cy="548640"/>
          </a:xfrm>
          <a:prstGeom prst="rect">
            <a:avLst/>
          </a:prstGeom>
          <a:solidFill>
            <a:srgbClr val="0B1E2D"/>
          </a:solidFill>
          <a:ln/>
        </p:spPr>
      </p:sp>
      <p:sp>
        <p:nvSpPr>
          <p:cNvPr id="29" name="Shape 27"/>
          <p:cNvSpPr/>
          <p:nvPr/>
        </p:nvSpPr>
        <p:spPr>
          <a:xfrm>
            <a:off x="822960" y="5074920"/>
            <a:ext cx="365760" cy="365760"/>
          </a:xfrm>
          <a:prstGeom prst="ellipse">
            <a:avLst/>
          </a:prstGeom>
          <a:solidFill>
            <a:srgbClr val="00C6FF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5074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371600" y="4983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Beep Alerts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754880" y="49834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winsound / terminal bell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MedCare+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Schema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tables keep patients, doctors, medicines, and suggestions fully cross-referenced.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D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320040" cy="320040"/>
          </a:xfrm>
          <a:prstGeom prst="ellipse">
            <a:avLst/>
          </a:prstGeom>
          <a:solidFill>
            <a:srgbClr val="00C6FF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203911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E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accounts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87452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D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2103120"/>
            <a:ext cx="320040" cy="32004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203911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E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17720" y="25603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accounts (max 15)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87452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D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66760" y="2103120"/>
            <a:ext cx="320040" cy="320040"/>
          </a:xfrm>
          <a:prstGeom prst="ellipse">
            <a:avLst/>
          </a:prstGeom>
          <a:solidFill>
            <a:srgbClr val="1E90FF"/>
          </a:solidFill>
          <a:ln/>
        </p:spPr>
      </p:sp>
      <p:sp>
        <p:nvSpPr>
          <p:cNvPr id="14" name="Text 12"/>
          <p:cNvSpPr/>
          <p:nvPr/>
        </p:nvSpPr>
        <p:spPr>
          <a:xfrm>
            <a:off x="8823960" y="203911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E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medicines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66760" y="25603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 + suggested_by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56616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D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3794760"/>
            <a:ext cx="320040" cy="320040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18" name="Text 16"/>
          <p:cNvSpPr/>
          <p:nvPr/>
        </p:nvSpPr>
        <p:spPr>
          <a:xfrm>
            <a:off x="1325880" y="373075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E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appointments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68680" y="42519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↔ doctor bookings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89120" y="356616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D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3794760"/>
            <a:ext cx="320040" cy="32004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22" name="Text 20"/>
          <p:cNvSpPr/>
          <p:nvPr/>
        </p:nvSpPr>
        <p:spPr>
          <a:xfrm>
            <a:off x="5074920" y="373075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E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specialization_medicines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617720" y="42519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real medicines × 15 specializations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38160" y="356616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D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66760" y="3794760"/>
            <a:ext cx="320040" cy="320040"/>
          </a:xfrm>
          <a:prstGeom prst="ellipse">
            <a:avLst/>
          </a:prstGeom>
          <a:solidFill>
            <a:srgbClr val="00C6FF"/>
          </a:solidFill>
          <a:ln/>
        </p:spPr>
      </p:sp>
      <p:sp>
        <p:nvSpPr>
          <p:cNvPr id="26" name="Text 24"/>
          <p:cNvSpPr/>
          <p:nvPr/>
        </p:nvSpPr>
        <p:spPr>
          <a:xfrm>
            <a:off x="8823960" y="373075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E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suggested_medicines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366760" y="42519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log of suggestions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MedCare+  |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Portal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00C6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0" y="137160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stored securely with name, phone, age, password.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457200" cy="457200"/>
          </a:xfrm>
          <a:prstGeom prst="ellipse">
            <a:avLst/>
          </a:prstGeom>
          <a:solidFill>
            <a:srgbClr val="00C6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3317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Records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0" y="233172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delete, search — with photo upload &amp; live preview. Now shows a “Suggested By (Doctor)” column.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00C6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32918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0" y="32918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with any doctor; 24-hour beep + popup reminders, optional SMS via Twilio.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297680"/>
            <a:ext cx="457200" cy="457200"/>
          </a:xfrm>
          <a:prstGeom prst="ellipse">
            <a:avLst/>
          </a:prstGeom>
          <a:solidFill>
            <a:srgbClr val="00C6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42519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Medicines Panel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0" y="425196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a doctor instantly shows the 7 reference medicines for their specialization.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257800"/>
            <a:ext cx="457200" cy="457200"/>
          </a:xfrm>
          <a:prstGeom prst="ellipse">
            <a:avLst/>
          </a:prstGeom>
          <a:solidFill>
            <a:srgbClr val="00C6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52120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Calculator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0" y="521208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BMI check with category feedback.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MedCare+  |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 Portal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5087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Login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0" y="150876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Authenticates by registered phone number.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457200" cy="45720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5603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Appointments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0" y="256032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Auto-filtered to that doctor, with an upcoming-count summary.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457200" cy="45720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36118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0" y="361188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Read-only, searchable view across all patient medicine history.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709160"/>
            <a:ext cx="457200" cy="45720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46634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Medicine (NEW)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0" y="46634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patient + a medicine from the specialization's 7-item list, add notes, and send.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623560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0B1E2D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6235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don't edit patient records directly — suggestions flow through an auditable, logged path.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MedCare+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Specialization-Based Medicine Suggestions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102A3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916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C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43400" y="155448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102A3E"/>
          </a:solidFill>
          <a:ln/>
        </p:spPr>
      </p:sp>
      <p:sp>
        <p:nvSpPr>
          <p:cNvPr id="7" name="Text 5"/>
          <p:cNvSpPr/>
          <p:nvPr/>
        </p:nvSpPr>
        <p:spPr>
          <a:xfrm>
            <a:off x="4343400" y="16916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C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343400" y="2651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Medicines Each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0" y="155448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102A3E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0" y="16916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C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105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8046720" y="2651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Reference Medicines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703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Cardiologist Reference List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160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Atorvastatin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4526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Amlodipine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4892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Metoprolol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5257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Aspirin (low dose)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5623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Losartan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5989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Clopidogrel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6355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Furosemide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416052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commonly-prescribed medicines — grounded, not freeform text — power both the doctor's suggestion dropdown and the patient's appointment-page preview panel.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MedCare+  |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Suggestion Flows Through the System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92024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D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623060" y="2194560"/>
            <a:ext cx="548640" cy="548640"/>
          </a:xfrm>
          <a:prstGeom prst="ellipse">
            <a:avLst/>
          </a:prstGeom>
          <a:solidFill>
            <a:srgbClr val="00C6FF"/>
          </a:solidFill>
          <a:ln/>
        </p:spPr>
      </p:sp>
      <p:sp>
        <p:nvSpPr>
          <p:cNvPr id="5" name="Text 3"/>
          <p:cNvSpPr/>
          <p:nvPr/>
        </p:nvSpPr>
        <p:spPr>
          <a:xfrm>
            <a:off x="162306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picks patient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Suggest Medicine form on the Doctor Dashboard.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154680" y="31089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AB4BD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429000" y="192024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D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11980" y="2194560"/>
            <a:ext cx="548640" cy="548640"/>
          </a:xfrm>
          <a:prstGeom prst="ellipse">
            <a:avLst/>
          </a:prstGeom>
          <a:solidFill>
            <a:srgbClr val="1E90FF"/>
          </a:solidFill>
          <a:ln/>
        </p:spPr>
      </p:sp>
      <p:sp>
        <p:nvSpPr>
          <p:cNvPr id="11" name="Text 9"/>
          <p:cNvSpPr/>
          <p:nvPr/>
        </p:nvSpPr>
        <p:spPr>
          <a:xfrm>
            <a:off x="441198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11880" y="29718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picks medicine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611880" y="361188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from their specialization's 7-item reference list.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43600" y="31089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AB4BD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217920" y="192024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D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200900" y="2194560"/>
            <a:ext cx="548640" cy="54864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17" name="Text 15"/>
          <p:cNvSpPr/>
          <p:nvPr/>
        </p:nvSpPr>
        <p:spPr>
          <a:xfrm>
            <a:off x="72009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0" y="29718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twice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00800" y="361188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suggested_medicines (audit log) and medicines (patient record).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732520" y="31089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AB4BD"/>
                </a:solidFill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006840" y="192024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D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989820" y="2194560"/>
            <a:ext cx="548640" cy="548640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23" name="Text 21"/>
          <p:cNvSpPr/>
          <p:nvPr/>
        </p:nvSpPr>
        <p:spPr>
          <a:xfrm>
            <a:off x="998982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189720" y="29718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everywhere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189720" y="361188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in doctor history, doctor patient-search, and the patient's own Medicine page.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MedCare+  |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Connected Visual Theme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Appointment page now shares the purple accent (#9B59B6) used across the Doctor Login and Dashboard, so booking an appointment feels like part of the same doctor-connected workflow.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383280" cy="3017520"/>
          </a:xfrm>
          <a:prstGeom prst="roundRect">
            <a:avLst>
              <a:gd name="adj" fmla="val 2424"/>
            </a:avLst>
          </a:prstGeom>
          <a:solidFill>
            <a:srgbClr val="102A3E"/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606040"/>
            <a:ext cx="2926080" cy="457200"/>
          </a:xfrm>
          <a:prstGeom prst="rect">
            <a:avLst>
              <a:gd name="adj" fmla="val 8000"/>
            </a:avLst>
          </a:prstGeom>
          <a:solidFill>
            <a:srgbClr val="9B59B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Doctor Login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60120" y="3337560"/>
            <a:ext cx="2743200" cy="292608"/>
          </a:xfrm>
          <a:prstGeom prst="rect">
            <a:avLst>
              <a:gd name="adj" fmla="val 9375"/>
            </a:avLst>
          </a:prstGeom>
          <a:solidFill>
            <a:srgbClr val="0B1E2D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3794760"/>
            <a:ext cx="2743200" cy="292608"/>
          </a:xfrm>
          <a:prstGeom prst="rect">
            <a:avLst>
              <a:gd name="adj" fmla="val 9375"/>
            </a:avLst>
          </a:prstGeom>
          <a:solidFill>
            <a:srgbClr val="0B1E2D"/>
          </a:solidFill>
          <a:ln/>
        </p:spPr>
      </p:sp>
      <p:sp>
        <p:nvSpPr>
          <p:cNvPr id="9" name="Shape 7"/>
          <p:cNvSpPr/>
          <p:nvPr/>
        </p:nvSpPr>
        <p:spPr>
          <a:xfrm>
            <a:off x="960120" y="4251960"/>
            <a:ext cx="2743200" cy="292608"/>
          </a:xfrm>
          <a:prstGeom prst="rect">
            <a:avLst>
              <a:gd name="adj" fmla="val 9375"/>
            </a:avLst>
          </a:prstGeom>
          <a:solidFill>
            <a:srgbClr val="0B1E2D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4709160"/>
            <a:ext cx="2743200" cy="292608"/>
          </a:xfrm>
          <a:prstGeom prst="rect">
            <a:avLst>
              <a:gd name="adj" fmla="val 9375"/>
            </a:avLst>
          </a:prstGeom>
          <a:solidFill>
            <a:srgbClr val="0B1E2D"/>
          </a:solidFill>
          <a:ln/>
        </p:spPr>
      </p:sp>
      <p:sp>
        <p:nvSpPr>
          <p:cNvPr id="11" name="Shape 9"/>
          <p:cNvSpPr/>
          <p:nvPr/>
        </p:nvSpPr>
        <p:spPr>
          <a:xfrm>
            <a:off x="4343400" y="2377440"/>
            <a:ext cx="3383280" cy="3017520"/>
          </a:xfrm>
          <a:prstGeom prst="roundRect">
            <a:avLst>
              <a:gd name="adj" fmla="val 2424"/>
            </a:avLst>
          </a:prstGeom>
          <a:solidFill>
            <a:srgbClr val="102A3E"/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2606040"/>
            <a:ext cx="2926080" cy="457200"/>
          </a:xfrm>
          <a:prstGeom prst="rect">
            <a:avLst>
              <a:gd name="adj" fmla="val 8000"/>
            </a:avLst>
          </a:prstGeom>
          <a:solidFill>
            <a:srgbClr val="9B59B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Doctor Dashboard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3337560"/>
            <a:ext cx="2743200" cy="292608"/>
          </a:xfrm>
          <a:prstGeom prst="rect">
            <a:avLst>
              <a:gd name="adj" fmla="val 9375"/>
            </a:avLst>
          </a:prstGeom>
          <a:solidFill>
            <a:srgbClr val="0B1E2D"/>
          </a:solidFill>
          <a:ln/>
        </p:spPr>
      </p:sp>
      <p:sp>
        <p:nvSpPr>
          <p:cNvPr id="15" name="Shape 13"/>
          <p:cNvSpPr/>
          <p:nvPr/>
        </p:nvSpPr>
        <p:spPr>
          <a:xfrm>
            <a:off x="4663440" y="3794760"/>
            <a:ext cx="2743200" cy="292608"/>
          </a:xfrm>
          <a:prstGeom prst="rect">
            <a:avLst>
              <a:gd name="adj" fmla="val 9375"/>
            </a:avLst>
          </a:prstGeom>
          <a:solidFill>
            <a:srgbClr val="0B1E2D"/>
          </a:solidFill>
          <a:ln/>
        </p:spPr>
      </p:sp>
      <p:sp>
        <p:nvSpPr>
          <p:cNvPr id="16" name="Shape 14"/>
          <p:cNvSpPr/>
          <p:nvPr/>
        </p:nvSpPr>
        <p:spPr>
          <a:xfrm>
            <a:off x="4663440" y="4251960"/>
            <a:ext cx="2743200" cy="292608"/>
          </a:xfrm>
          <a:prstGeom prst="rect">
            <a:avLst>
              <a:gd name="adj" fmla="val 9375"/>
            </a:avLst>
          </a:prstGeom>
          <a:solidFill>
            <a:srgbClr val="0B1E2D"/>
          </a:solidFill>
          <a:ln/>
        </p:spPr>
      </p:sp>
      <p:sp>
        <p:nvSpPr>
          <p:cNvPr id="17" name="Shape 15"/>
          <p:cNvSpPr/>
          <p:nvPr/>
        </p:nvSpPr>
        <p:spPr>
          <a:xfrm>
            <a:off x="4663440" y="4709160"/>
            <a:ext cx="2743200" cy="292608"/>
          </a:xfrm>
          <a:prstGeom prst="rect">
            <a:avLst>
              <a:gd name="adj" fmla="val 9375"/>
            </a:avLst>
          </a:prstGeom>
          <a:solidFill>
            <a:srgbClr val="0B1E2D"/>
          </a:solidFill>
          <a:ln/>
        </p:spPr>
      </p:sp>
      <p:sp>
        <p:nvSpPr>
          <p:cNvPr id="18" name="Shape 16"/>
          <p:cNvSpPr/>
          <p:nvPr/>
        </p:nvSpPr>
        <p:spPr>
          <a:xfrm>
            <a:off x="8046720" y="2377440"/>
            <a:ext cx="3383280" cy="3017520"/>
          </a:xfrm>
          <a:prstGeom prst="roundRect">
            <a:avLst>
              <a:gd name="adj" fmla="val 2424"/>
            </a:avLst>
          </a:prstGeom>
          <a:solidFill>
            <a:srgbClr val="102A3E"/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5320" y="2606040"/>
            <a:ext cx="2926080" cy="457200"/>
          </a:xfrm>
          <a:prstGeom prst="rect">
            <a:avLst>
              <a:gd name="adj" fmla="val 8000"/>
            </a:avLst>
          </a:prstGeom>
          <a:solidFill>
            <a:srgbClr val="9B59B6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Appointment Page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366760" y="3337560"/>
            <a:ext cx="2743200" cy="292608"/>
          </a:xfrm>
          <a:prstGeom prst="rect">
            <a:avLst>
              <a:gd name="adj" fmla="val 9375"/>
            </a:avLst>
          </a:prstGeom>
          <a:solidFill>
            <a:srgbClr val="0B1E2D"/>
          </a:solidFill>
          <a:ln/>
        </p:spPr>
      </p:sp>
      <p:sp>
        <p:nvSpPr>
          <p:cNvPr id="22" name="Shape 20"/>
          <p:cNvSpPr/>
          <p:nvPr/>
        </p:nvSpPr>
        <p:spPr>
          <a:xfrm>
            <a:off x="8366760" y="3794760"/>
            <a:ext cx="2743200" cy="292608"/>
          </a:xfrm>
          <a:prstGeom prst="rect">
            <a:avLst>
              <a:gd name="adj" fmla="val 9375"/>
            </a:avLst>
          </a:prstGeom>
          <a:solidFill>
            <a:srgbClr val="0B1E2D"/>
          </a:solidFill>
          <a:ln/>
        </p:spPr>
      </p:sp>
      <p:sp>
        <p:nvSpPr>
          <p:cNvPr id="23" name="Shape 21"/>
          <p:cNvSpPr/>
          <p:nvPr/>
        </p:nvSpPr>
        <p:spPr>
          <a:xfrm>
            <a:off x="8366760" y="4251960"/>
            <a:ext cx="2743200" cy="292608"/>
          </a:xfrm>
          <a:prstGeom prst="rect">
            <a:avLst>
              <a:gd name="adj" fmla="val 9375"/>
            </a:avLst>
          </a:prstGeom>
          <a:solidFill>
            <a:srgbClr val="0B1E2D"/>
          </a:solidFill>
          <a:ln/>
        </p:spPr>
      </p:sp>
      <p:sp>
        <p:nvSpPr>
          <p:cNvPr id="24" name="Shape 22"/>
          <p:cNvSpPr/>
          <p:nvPr/>
        </p:nvSpPr>
        <p:spPr>
          <a:xfrm>
            <a:off x="8366760" y="4709160"/>
            <a:ext cx="2743200" cy="292608"/>
          </a:xfrm>
          <a:prstGeom prst="rect">
            <a:avLst>
              <a:gd name="adj" fmla="val 9375"/>
            </a:avLst>
          </a:prstGeom>
          <a:solidFill>
            <a:srgbClr val="0B1E2D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MedCare+  |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Validation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headless automated test harness validated the full data flow before release.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11480" cy="41148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8745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15 specializations seed with exactly 7 medicines each (105 total)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411480" cy="41148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27432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doctor specialization has a matching medicine reference list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411480" cy="41148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361188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simulated doctor suggestion appears correctly in both suggested_medicines and medicines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526280"/>
            <a:ext cx="411480" cy="41148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526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44805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Pre-update databases migrate cleanly — suggested_by column added, no data lost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53212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0B1E2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5321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700"/>
                </a:solidFill>
              </a:rPr>
              <a:t>Result: All test cases passed.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MedCare+  |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102A3E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45920"/>
            <a:ext cx="457200" cy="457200"/>
          </a:xfrm>
          <a:prstGeom prst="ellipse">
            <a:avLst/>
          </a:prstGeom>
          <a:solidFill>
            <a:srgbClr val="00C6F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Passwords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password-based authentication for stronger doctor login security.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51960" y="141732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102A3E"/>
          </a:solidFill>
          <a:ln/>
        </p:spPr>
      </p:sp>
      <p:sp>
        <p:nvSpPr>
          <p:cNvPr id="9" name="Shape 7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00C6FF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80560" y="2240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Drug Database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480560" y="26974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the medicine reference list to a regularly updated external source.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63840" y="141732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102A3E"/>
          </a:solidFill>
          <a:ln/>
        </p:spPr>
      </p:sp>
      <p:sp>
        <p:nvSpPr>
          <p:cNvPr id="14" name="Shape 12"/>
          <p:cNvSpPr/>
          <p:nvPr/>
        </p:nvSpPr>
        <p:spPr>
          <a:xfrm>
            <a:off x="8092440" y="1645920"/>
            <a:ext cx="457200" cy="457200"/>
          </a:xfrm>
          <a:prstGeom prst="ellipse">
            <a:avLst/>
          </a:prstGeom>
          <a:solidFill>
            <a:srgbClr val="00C6FF"/>
          </a:solidFill>
          <a:ln/>
        </p:spPr>
      </p:sp>
      <p:sp>
        <p:nvSpPr>
          <p:cNvPr id="15" name="Text 13"/>
          <p:cNvSpPr/>
          <p:nvPr/>
        </p:nvSpPr>
        <p:spPr>
          <a:xfrm>
            <a:off x="80924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92440" y="2240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Role Login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092440" y="26974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authentication for the Manage Doctors screen.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374904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102A3E"/>
          </a:solidFill>
          <a:ln/>
        </p:spPr>
      </p:sp>
      <p:sp>
        <p:nvSpPr>
          <p:cNvPr id="19" name="Shape 17"/>
          <p:cNvSpPr/>
          <p:nvPr/>
        </p:nvSpPr>
        <p:spPr>
          <a:xfrm>
            <a:off x="868680" y="3977640"/>
            <a:ext cx="457200" cy="457200"/>
          </a:xfrm>
          <a:prstGeom prst="ellipse">
            <a:avLst/>
          </a:prstGeom>
          <a:solidFill>
            <a:srgbClr val="00C6FF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8680" y="4572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Accept/Reject Flow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68680" y="50292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patients accept or decline a suggested medicine from their Medicine page.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51960" y="374904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102A3E"/>
          </a:solidFill>
          <a:ln/>
        </p:spPr>
      </p:sp>
      <p:sp>
        <p:nvSpPr>
          <p:cNvPr id="24" name="Shape 22"/>
          <p:cNvSpPr/>
          <p:nvPr/>
        </p:nvSpPr>
        <p:spPr>
          <a:xfrm>
            <a:off x="4480560" y="3977640"/>
            <a:ext cx="457200" cy="457200"/>
          </a:xfrm>
          <a:prstGeom prst="ellipse">
            <a:avLst/>
          </a:prstGeom>
          <a:solidFill>
            <a:srgbClr val="00C6FF"/>
          </a:solidFill>
          <a:ln/>
        </p:spPr>
      </p:sp>
      <p:sp>
        <p:nvSpPr>
          <p:cNvPr id="25" name="Text 23"/>
          <p:cNvSpPr/>
          <p:nvPr/>
        </p:nvSpPr>
        <p:spPr>
          <a:xfrm>
            <a:off x="448056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480560" y="4572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UI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480560" y="50292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the Tkinter interface to a web app for broader access.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MedCare+  |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1463040"/>
            <a:ext cx="1005840" cy="100584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3" name="Text 1"/>
          <p:cNvSpPr/>
          <p:nvPr/>
        </p:nvSpPr>
        <p:spPr>
          <a:xfrm>
            <a:off x="5591556" y="1463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0" y="274320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35204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MedCare+ — Medicine &amp; Appointment Management System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41148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MedCare+ — Medicine &amp; Appointment Management System</dc:title>
  <dc:subject>PptxGenJS Presentation</dc:subject>
  <dc:creator>MedCare+ Team</dc:creator>
  <cp:lastModifiedBy>MedCare+ Team</cp:lastModifiedBy>
  <cp:revision>1</cp:revision>
  <dcterms:created xsi:type="dcterms:W3CDTF">2026-07-03T08:05:11Z</dcterms:created>
  <dcterms:modified xsi:type="dcterms:W3CDTF">2026-07-03T08:05:11Z</dcterms:modified>
</cp:coreProperties>
</file>